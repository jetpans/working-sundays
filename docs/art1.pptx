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>
        <p:scale>
          <a:sx n="33" d="100"/>
          <a:sy n="33" d="100"/>
        </p:scale>
        <p:origin x="3211" y="18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AAC0F-B802-ED7B-052A-4409F9ED40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607E51-BBB2-B715-BFA7-98D2C5A4DB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9E2798-61FF-FB29-A380-CB8A2E265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F3D6A-FF3F-4454-8F7F-D3E1C79C995A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680486-D6B9-1BC7-8567-8843531B0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06B9A3-443F-961C-0760-6956F0E13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196E5-F0E9-41E6-A851-1CF3F0E2B8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6057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F009B-893C-E979-D73D-590DE8891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C43DB2-83F2-B588-067D-D676D9C5F2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4026DA-F24D-9833-3283-5C8767776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F3D6A-FF3F-4454-8F7F-D3E1C79C995A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9C0619-CF37-77FE-F46A-23E87D4AA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479AF4-9F20-6F6A-2F77-7D3A76E91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196E5-F0E9-41E6-A851-1CF3F0E2B8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606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8C4A8-6D3A-214F-5905-A3E883C6C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562C5B-7133-4025-B4F4-E58BC988ED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3AC3EF-B62C-B682-91EB-8F09FEA36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F3D6A-FF3F-4454-8F7F-D3E1C79C995A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2D80E6-6F6D-64B2-9F8C-93298D143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D02AD3-402F-1927-70FD-3FA7B9967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196E5-F0E9-41E6-A851-1CF3F0E2B8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8933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EFCB1-6213-DC5A-082C-C304989D1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8888E-9F2C-C1CD-9AC7-4418FB3E7F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50B4F8-78F1-9098-4A59-BE929F2558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0E25CA-96E4-1C28-1566-097108AA5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F3D6A-FF3F-4454-8F7F-D3E1C79C995A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8500A3-FD23-66DB-ECCD-A5026CD55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C4AC07-C0C5-04EB-8D91-61EB86FF4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196E5-F0E9-41E6-A851-1CF3F0E2B8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7395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66A0D-4CB1-2B15-49B7-0D9347463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6D0BBC-A1C9-1E1B-8D65-FB1594C331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AF842B-A934-5D9C-9C4F-EFD175CD91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EECB8A-975D-A769-3F89-546B3C20BB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18D1C8-532D-D20B-3CBB-614C901399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4D2B94-307E-4303-0F78-FD550D628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F3D6A-FF3F-4454-8F7F-D3E1C79C995A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573613-BC03-710B-D375-FEA0224B4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2BD484-F61A-078E-E79A-BBB049612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196E5-F0E9-41E6-A851-1CF3F0E2B8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0917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13C39-D8C1-1AFE-CC0B-DB25ACB1B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AFB6A4-A8D6-207D-0B7D-B3F6B5A28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F3D6A-FF3F-4454-8F7F-D3E1C79C995A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436B3B-9F66-FB0B-F5CF-92D1BA19E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076C3C-F165-E2D6-2CD4-AFEF48761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196E5-F0E9-41E6-A851-1CF3F0E2B8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8896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338021-E8AB-36A9-211B-F59941611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F3D6A-FF3F-4454-8F7F-D3E1C79C995A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CDCB1B-2FBE-C216-520E-10385E3B3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09F9A9-9A1C-BC7D-86AB-BDC2578C4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196E5-F0E9-41E6-A851-1CF3F0E2B8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3699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0E3A9-789D-E09A-ECDC-D84039057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8499E3-D139-9349-BEB1-63B2F302D3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5CA61B-113E-0B82-9A0C-38587EE378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F99C7A-6096-EB86-77CF-9DFCB236B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F3D6A-FF3F-4454-8F7F-D3E1C79C995A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ADC1F4-A1C0-B1C9-6EC6-3C424F317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9DDC6E-E29F-33AD-7DA6-EB90A60F2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196E5-F0E9-41E6-A851-1CF3F0E2B8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7246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60411-1FA7-C91C-3D0B-F32A53834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9A80CB-26F9-AB86-6D3A-F3CC7BEC82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133EA2-9567-219E-15FC-C1C6B3FA29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B4EF6C-6AD5-9E21-E313-39D3E7C1C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F3D6A-FF3F-4454-8F7F-D3E1C79C995A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6D198C-3C86-E54A-AFC5-33F36BCFC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72F779-E519-AA50-DB6C-FC10DF922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196E5-F0E9-41E6-A851-1CF3F0E2B8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8947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209D8-394F-D853-755E-35174D480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3FDF71-669A-E93E-DEB1-87BE820E26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E4971F-AAC4-5C33-D419-262D3272A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F3D6A-FF3F-4454-8F7F-D3E1C79C995A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3CBB1B-341D-ADD2-DE64-759E88F1F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B3D437-6CF5-58C2-CC94-0AD6CEF53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196E5-F0E9-41E6-A851-1CF3F0E2B8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8973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C199AC-AD74-1C40-5BEF-5E69101769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0E2A29-6799-3EFD-9D93-953AA05437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9F0616-358E-A0C6-A70C-BC30222FE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F3D6A-FF3F-4454-8F7F-D3E1C79C995A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8C8032-C4D5-9084-8EB0-2C1EB22E5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5192D2-FF29-DB31-126B-8DC20C61D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196E5-F0E9-41E6-A851-1CF3F0E2B8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2735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F99FEE-0571-C170-EB46-58F6AE9BF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625D1A-5014-96C5-81EB-3E2EE192BD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122CCF-6DBD-29A6-4FFC-248CA25190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0F3D6A-FF3F-4454-8F7F-D3E1C79C995A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E71DBA-F716-11EF-0B81-B02F412929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25F8F3-95B4-4588-046A-AA7F29502F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D196E5-F0E9-41E6-A851-1CF3F0E2B8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5803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0" name="Group 149">
            <a:extLst>
              <a:ext uri="{FF2B5EF4-FFF2-40B4-BE49-F238E27FC236}">
                <a16:creationId xmlns:a16="http://schemas.microsoft.com/office/drawing/2014/main" id="{AEE852E2-355D-AB17-8151-E08EB0B8F82A}"/>
              </a:ext>
            </a:extLst>
          </p:cNvPr>
          <p:cNvGrpSpPr/>
          <p:nvPr/>
        </p:nvGrpSpPr>
        <p:grpSpPr>
          <a:xfrm>
            <a:off x="-14864862" y="-5879123"/>
            <a:ext cx="12389607" cy="18616246"/>
            <a:chOff x="-187570" y="-3821723"/>
            <a:chExt cx="12389607" cy="18616246"/>
          </a:xfrm>
        </p:grpSpPr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1EC555F8-F4AB-D6CD-3D16-FEDF1BEC9A2C}"/>
                </a:ext>
              </a:extLst>
            </p:cNvPr>
            <p:cNvSpPr/>
            <p:nvPr/>
          </p:nvSpPr>
          <p:spPr>
            <a:xfrm>
              <a:off x="-187570" y="-3821723"/>
              <a:ext cx="12389607" cy="1861624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217D6C9-212B-1BC8-555B-2A52BC6823CF}"/>
                </a:ext>
              </a:extLst>
            </p:cNvPr>
            <p:cNvSpPr/>
            <p:nvPr/>
          </p:nvSpPr>
          <p:spPr>
            <a:xfrm>
              <a:off x="5904318" y="8310473"/>
              <a:ext cx="731520" cy="859536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C1B21BA-ECC3-0C40-D658-2A929DAEE808}"/>
                </a:ext>
              </a:extLst>
            </p:cNvPr>
            <p:cNvSpPr/>
            <p:nvPr/>
          </p:nvSpPr>
          <p:spPr>
            <a:xfrm>
              <a:off x="6635838" y="8310473"/>
              <a:ext cx="731520" cy="1508760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9929C49-8F6C-CB49-B3BA-02A399B49115}"/>
                </a:ext>
              </a:extLst>
            </p:cNvPr>
            <p:cNvSpPr/>
            <p:nvPr/>
          </p:nvSpPr>
          <p:spPr>
            <a:xfrm>
              <a:off x="5904318" y="9170009"/>
              <a:ext cx="731520" cy="384048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8784DB4-265F-64F1-9EBB-27DE93C71F1E}"/>
                </a:ext>
              </a:extLst>
            </p:cNvPr>
            <p:cNvSpPr/>
            <p:nvPr/>
          </p:nvSpPr>
          <p:spPr>
            <a:xfrm>
              <a:off x="5904318" y="9554057"/>
              <a:ext cx="731520" cy="1124712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D2D91B0-E625-61B7-1AAB-81BF9AF816A1}"/>
                </a:ext>
              </a:extLst>
            </p:cNvPr>
            <p:cNvSpPr/>
            <p:nvPr/>
          </p:nvSpPr>
          <p:spPr>
            <a:xfrm>
              <a:off x="6635838" y="9819233"/>
              <a:ext cx="731520" cy="859536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F4CF6FC4-F4ED-A88E-85FF-2C6387426A17}"/>
                </a:ext>
              </a:extLst>
            </p:cNvPr>
            <p:cNvGrpSpPr/>
            <p:nvPr/>
          </p:nvGrpSpPr>
          <p:grpSpPr>
            <a:xfrm>
              <a:off x="5490972" y="4324350"/>
              <a:ext cx="1878057" cy="2075433"/>
              <a:chOff x="4192207" y="2820185"/>
              <a:chExt cx="2871216" cy="3172968"/>
            </a:xfrm>
          </p:grpSpPr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3143FB97-016B-29BF-53C9-8EDD2A84B337}"/>
                  </a:ext>
                </a:extLst>
              </p:cNvPr>
              <p:cNvSpPr/>
              <p:nvPr/>
            </p:nvSpPr>
            <p:spPr>
              <a:xfrm>
                <a:off x="4192207" y="2820185"/>
                <a:ext cx="2871216" cy="317296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D428FEA-58D5-EF14-A736-810080DE39D7}"/>
                  </a:ext>
                </a:extLst>
              </p:cNvPr>
              <p:cNvSpPr txBox="1"/>
              <p:nvPr/>
            </p:nvSpPr>
            <p:spPr>
              <a:xfrm>
                <a:off x="4530852" y="3108960"/>
                <a:ext cx="2276856" cy="4000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hr-HR" sz="2000" dirty="0">
                    <a:solidFill>
                      <a:schemeClr val="bg1"/>
                    </a:solidFill>
                  </a:rPr>
                  <a:t>Genetski algoritam</a:t>
                </a:r>
                <a:endParaRPr lang="en-US" sz="20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B209214F-928A-D98A-07CE-B4AD8DA6448E}"/>
                </a:ext>
              </a:extLst>
            </p:cNvPr>
            <p:cNvGrpSpPr/>
            <p:nvPr/>
          </p:nvGrpSpPr>
          <p:grpSpPr>
            <a:xfrm>
              <a:off x="7438797" y="4324346"/>
              <a:ext cx="1878057" cy="2075433"/>
              <a:chOff x="4192207" y="2820185"/>
              <a:chExt cx="2871216" cy="3172968"/>
            </a:xfrm>
          </p:grpSpPr>
          <p:sp>
            <p:nvSpPr>
              <p:cNvPr id="23" name="Rectangle: Rounded Corners 22">
                <a:extLst>
                  <a:ext uri="{FF2B5EF4-FFF2-40B4-BE49-F238E27FC236}">
                    <a16:creationId xmlns:a16="http://schemas.microsoft.com/office/drawing/2014/main" id="{DD04F7C8-4623-4A8F-2753-914145888813}"/>
                  </a:ext>
                </a:extLst>
              </p:cNvPr>
              <p:cNvSpPr/>
              <p:nvPr/>
            </p:nvSpPr>
            <p:spPr>
              <a:xfrm>
                <a:off x="4192207" y="2820185"/>
                <a:ext cx="2871216" cy="317296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DF04DA7-CFA4-262F-4453-873BA37E4C6A}"/>
                  </a:ext>
                </a:extLst>
              </p:cNvPr>
              <p:cNvSpPr txBox="1"/>
              <p:nvPr/>
            </p:nvSpPr>
            <p:spPr>
              <a:xfrm>
                <a:off x="4530852" y="3108960"/>
                <a:ext cx="2276856" cy="4000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hr-HR" sz="2000" dirty="0">
                    <a:solidFill>
                      <a:schemeClr val="bg1"/>
                    </a:solidFill>
                  </a:rPr>
                  <a:t>Genetski algoritam</a:t>
                </a:r>
                <a:endParaRPr lang="en-US" sz="20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36CC327C-CA2F-891F-D3D4-8589903EDE0A}"/>
                </a:ext>
              </a:extLst>
            </p:cNvPr>
            <p:cNvGrpSpPr/>
            <p:nvPr/>
          </p:nvGrpSpPr>
          <p:grpSpPr>
            <a:xfrm>
              <a:off x="9371098" y="4324346"/>
              <a:ext cx="1878057" cy="2075433"/>
              <a:chOff x="4192207" y="2820185"/>
              <a:chExt cx="2871216" cy="3172968"/>
            </a:xfrm>
          </p:grpSpPr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E34E6B50-BC7B-3EB2-D50C-3B9B1BB5EC8E}"/>
                  </a:ext>
                </a:extLst>
              </p:cNvPr>
              <p:cNvSpPr/>
              <p:nvPr/>
            </p:nvSpPr>
            <p:spPr>
              <a:xfrm>
                <a:off x="4192207" y="2820185"/>
                <a:ext cx="2871216" cy="317296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A965CDC-F6E9-F830-6760-0E1B1DE79D36}"/>
                  </a:ext>
                </a:extLst>
              </p:cNvPr>
              <p:cNvSpPr txBox="1"/>
              <p:nvPr/>
            </p:nvSpPr>
            <p:spPr>
              <a:xfrm>
                <a:off x="4530852" y="3108960"/>
                <a:ext cx="2276856" cy="4000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hr-HR" sz="2000" dirty="0">
                    <a:solidFill>
                      <a:schemeClr val="bg1"/>
                    </a:solidFill>
                  </a:rPr>
                  <a:t>Genetski algoritam</a:t>
                </a:r>
                <a:endParaRPr lang="en-US" sz="20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A6B6C6EF-ADDD-E472-E847-440CD977EF22}"/>
                </a:ext>
              </a:extLst>
            </p:cNvPr>
            <p:cNvGrpSpPr/>
            <p:nvPr/>
          </p:nvGrpSpPr>
          <p:grpSpPr>
            <a:xfrm>
              <a:off x="3543147" y="4324348"/>
              <a:ext cx="1878057" cy="2075433"/>
              <a:chOff x="4192207" y="2820185"/>
              <a:chExt cx="2871216" cy="3172968"/>
            </a:xfrm>
          </p:grpSpPr>
          <p:sp>
            <p:nvSpPr>
              <p:cNvPr id="29" name="Rectangle: Rounded Corners 28">
                <a:extLst>
                  <a:ext uri="{FF2B5EF4-FFF2-40B4-BE49-F238E27FC236}">
                    <a16:creationId xmlns:a16="http://schemas.microsoft.com/office/drawing/2014/main" id="{DBFC76DB-ADEF-8E6E-4FA6-9B561696DD3C}"/>
                  </a:ext>
                </a:extLst>
              </p:cNvPr>
              <p:cNvSpPr/>
              <p:nvPr/>
            </p:nvSpPr>
            <p:spPr>
              <a:xfrm>
                <a:off x="4192207" y="2820185"/>
                <a:ext cx="2871216" cy="317296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9594C3B-1C03-EE13-9608-E45D27B99926}"/>
                  </a:ext>
                </a:extLst>
              </p:cNvPr>
              <p:cNvSpPr txBox="1"/>
              <p:nvPr/>
            </p:nvSpPr>
            <p:spPr>
              <a:xfrm>
                <a:off x="4530852" y="3108960"/>
                <a:ext cx="2276856" cy="4000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hr-HR" sz="2000" dirty="0">
                    <a:solidFill>
                      <a:schemeClr val="bg1"/>
                    </a:solidFill>
                  </a:rPr>
                  <a:t>Genetski algoritam</a:t>
                </a:r>
                <a:endParaRPr lang="en-US" sz="20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8CB39896-524F-61C0-A9DB-E4DE2DB3CF5A}"/>
                </a:ext>
              </a:extLst>
            </p:cNvPr>
            <p:cNvGrpSpPr/>
            <p:nvPr/>
          </p:nvGrpSpPr>
          <p:grpSpPr>
            <a:xfrm>
              <a:off x="1617473" y="4324346"/>
              <a:ext cx="1878057" cy="2075433"/>
              <a:chOff x="4192207" y="2820185"/>
              <a:chExt cx="2871216" cy="3172968"/>
            </a:xfrm>
          </p:grpSpPr>
          <p:sp>
            <p:nvSpPr>
              <p:cNvPr id="35" name="Rectangle: Rounded Corners 34">
                <a:extLst>
                  <a:ext uri="{FF2B5EF4-FFF2-40B4-BE49-F238E27FC236}">
                    <a16:creationId xmlns:a16="http://schemas.microsoft.com/office/drawing/2014/main" id="{328BC0FB-9D1E-3557-B3D8-4394F4379111}"/>
                  </a:ext>
                </a:extLst>
              </p:cNvPr>
              <p:cNvSpPr/>
              <p:nvPr/>
            </p:nvSpPr>
            <p:spPr>
              <a:xfrm>
                <a:off x="4192207" y="2820185"/>
                <a:ext cx="2871216" cy="317296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D0DE2784-8BFF-A6E4-A673-85F1003F846F}"/>
                  </a:ext>
                </a:extLst>
              </p:cNvPr>
              <p:cNvSpPr txBox="1"/>
              <p:nvPr/>
            </p:nvSpPr>
            <p:spPr>
              <a:xfrm>
                <a:off x="4530852" y="3108960"/>
                <a:ext cx="2276856" cy="4000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hr-HR" sz="2000" dirty="0">
                    <a:solidFill>
                      <a:schemeClr val="bg1"/>
                    </a:solidFill>
                  </a:rPr>
                  <a:t>Genetski algoritam</a:t>
                </a:r>
                <a:endParaRPr lang="en-US" sz="20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3B8CCDE5-851E-B6DD-B18D-EDE3C21CB59B}"/>
                </a:ext>
              </a:extLst>
            </p:cNvPr>
            <p:cNvSpPr/>
            <p:nvPr/>
          </p:nvSpPr>
          <p:spPr>
            <a:xfrm>
              <a:off x="4237122" y="5270754"/>
              <a:ext cx="456704" cy="941953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2D94D0F0-E2F8-D6C4-DA31-472242B1C181}"/>
                </a:ext>
              </a:extLst>
            </p:cNvPr>
            <p:cNvSpPr/>
            <p:nvPr/>
          </p:nvSpPr>
          <p:spPr>
            <a:xfrm>
              <a:off x="2168591" y="5270754"/>
              <a:ext cx="731520" cy="859536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A70F7418-FB24-284B-8206-C086DF30F927}"/>
                </a:ext>
              </a:extLst>
            </p:cNvPr>
            <p:cNvSpPr/>
            <p:nvPr/>
          </p:nvSpPr>
          <p:spPr>
            <a:xfrm>
              <a:off x="6048717" y="5508498"/>
              <a:ext cx="731520" cy="384048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A07246FF-7AE3-CBB9-EA8F-E26BFA1BD329}"/>
                </a:ext>
              </a:extLst>
            </p:cNvPr>
            <p:cNvSpPr/>
            <p:nvPr/>
          </p:nvSpPr>
          <p:spPr>
            <a:xfrm>
              <a:off x="8065416" y="5333754"/>
              <a:ext cx="571677" cy="87895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023FDDEF-B102-E5AE-3DCC-023EBB402AE5}"/>
                </a:ext>
              </a:extLst>
            </p:cNvPr>
            <p:cNvSpPr/>
            <p:nvPr/>
          </p:nvSpPr>
          <p:spPr>
            <a:xfrm>
              <a:off x="9971488" y="5362061"/>
              <a:ext cx="731520" cy="859536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8756FA9B-1391-0D40-49DD-EDFBE73114F2}"/>
                </a:ext>
              </a:extLst>
            </p:cNvPr>
            <p:cNvSpPr/>
            <p:nvPr/>
          </p:nvSpPr>
          <p:spPr>
            <a:xfrm>
              <a:off x="2168591" y="2999232"/>
              <a:ext cx="731520" cy="859536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r-HR" sz="4000" dirty="0"/>
                <a:t>*</a:t>
              </a:r>
              <a:endParaRPr lang="en-US" dirty="0"/>
            </a:p>
          </p:txBody>
        </p: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C9B853BF-6CD8-75AC-9A1F-0D7A06363475}"/>
                </a:ext>
              </a:extLst>
            </p:cNvPr>
            <p:cNvGrpSpPr/>
            <p:nvPr/>
          </p:nvGrpSpPr>
          <p:grpSpPr>
            <a:xfrm>
              <a:off x="4509297" y="1460284"/>
              <a:ext cx="1878057" cy="2075433"/>
              <a:chOff x="4192207" y="2820185"/>
              <a:chExt cx="2871216" cy="3172968"/>
            </a:xfrm>
          </p:grpSpPr>
          <p:sp>
            <p:nvSpPr>
              <p:cNvPr id="52" name="Rectangle: Rounded Corners 51">
                <a:extLst>
                  <a:ext uri="{FF2B5EF4-FFF2-40B4-BE49-F238E27FC236}">
                    <a16:creationId xmlns:a16="http://schemas.microsoft.com/office/drawing/2014/main" id="{24685788-D9A0-F217-6EE6-85FF316333DC}"/>
                  </a:ext>
                </a:extLst>
              </p:cNvPr>
              <p:cNvSpPr/>
              <p:nvPr/>
            </p:nvSpPr>
            <p:spPr>
              <a:xfrm>
                <a:off x="4192207" y="2820185"/>
                <a:ext cx="2871216" cy="317296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1691E085-8239-DD4B-6A0D-D73A99E49A2C}"/>
                  </a:ext>
                </a:extLst>
              </p:cNvPr>
              <p:cNvSpPr txBox="1"/>
              <p:nvPr/>
            </p:nvSpPr>
            <p:spPr>
              <a:xfrm>
                <a:off x="4530852" y="3108960"/>
                <a:ext cx="2276856" cy="4000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hr-HR" sz="2000" dirty="0">
                    <a:solidFill>
                      <a:schemeClr val="bg1"/>
                    </a:solidFill>
                  </a:rPr>
                  <a:t>Genetski algoritam</a:t>
                </a:r>
                <a:endParaRPr lang="en-US" sz="20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B6852440-30B9-E60A-2B8A-15B036E0F569}"/>
                </a:ext>
              </a:extLst>
            </p:cNvPr>
            <p:cNvSpPr/>
            <p:nvPr/>
          </p:nvSpPr>
          <p:spPr>
            <a:xfrm>
              <a:off x="4879191" y="2400648"/>
              <a:ext cx="451875" cy="931992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FE3E07F8-0C72-7EA0-5ABC-19165D39810F}"/>
                </a:ext>
              </a:extLst>
            </p:cNvPr>
            <p:cNvSpPr/>
            <p:nvPr/>
          </p:nvSpPr>
          <p:spPr>
            <a:xfrm>
              <a:off x="5331066" y="2569464"/>
              <a:ext cx="731520" cy="459016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dirty="0"/>
            </a:p>
          </p:txBody>
        </p: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113F3798-AF42-E66E-C72D-9EDED357D6B9}"/>
                </a:ext>
              </a:extLst>
            </p:cNvPr>
            <p:cNvGrpSpPr/>
            <p:nvPr/>
          </p:nvGrpSpPr>
          <p:grpSpPr>
            <a:xfrm>
              <a:off x="8351254" y="1531747"/>
              <a:ext cx="1878057" cy="2075433"/>
              <a:chOff x="4192207" y="2820185"/>
              <a:chExt cx="2871216" cy="3172968"/>
            </a:xfrm>
          </p:grpSpPr>
          <p:sp>
            <p:nvSpPr>
              <p:cNvPr id="59" name="Rectangle: Rounded Corners 58">
                <a:extLst>
                  <a:ext uri="{FF2B5EF4-FFF2-40B4-BE49-F238E27FC236}">
                    <a16:creationId xmlns:a16="http://schemas.microsoft.com/office/drawing/2014/main" id="{044E9F26-22DA-A96D-6891-82A8A57E4E2D}"/>
                  </a:ext>
                </a:extLst>
              </p:cNvPr>
              <p:cNvSpPr/>
              <p:nvPr/>
            </p:nvSpPr>
            <p:spPr>
              <a:xfrm>
                <a:off x="4192207" y="2820185"/>
                <a:ext cx="2871216" cy="317296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C308532E-552F-D6C6-436D-3564E294BDE3}"/>
                  </a:ext>
                </a:extLst>
              </p:cNvPr>
              <p:cNvSpPr txBox="1"/>
              <p:nvPr/>
            </p:nvSpPr>
            <p:spPr>
              <a:xfrm>
                <a:off x="4530852" y="3108960"/>
                <a:ext cx="2276856" cy="4000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hr-HR" sz="2000" dirty="0">
                    <a:solidFill>
                      <a:schemeClr val="bg1"/>
                    </a:solidFill>
                  </a:rPr>
                  <a:t>Genetski algoritam</a:t>
                </a:r>
                <a:endParaRPr lang="en-US" sz="20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3E774DFB-31E7-DDAD-A47F-6A8A5281777E}"/>
                </a:ext>
              </a:extLst>
            </p:cNvPr>
            <p:cNvSpPr/>
            <p:nvPr/>
          </p:nvSpPr>
          <p:spPr>
            <a:xfrm>
              <a:off x="8745177" y="2589003"/>
              <a:ext cx="571677" cy="87895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32D69299-7835-6BDD-C041-10B88AA76A19}"/>
                </a:ext>
              </a:extLst>
            </p:cNvPr>
            <p:cNvSpPr/>
            <p:nvPr/>
          </p:nvSpPr>
          <p:spPr>
            <a:xfrm>
              <a:off x="9330528" y="2600100"/>
              <a:ext cx="731520" cy="859536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66E3B7AE-C214-A6FB-9BE1-20997B15C1D0}"/>
                </a:ext>
              </a:extLst>
            </p:cNvPr>
            <p:cNvGrpSpPr/>
            <p:nvPr/>
          </p:nvGrpSpPr>
          <p:grpSpPr>
            <a:xfrm>
              <a:off x="6414477" y="-1354732"/>
              <a:ext cx="1878057" cy="2075433"/>
              <a:chOff x="4192207" y="2820185"/>
              <a:chExt cx="2871216" cy="3172968"/>
            </a:xfrm>
          </p:grpSpPr>
          <p:sp>
            <p:nvSpPr>
              <p:cNvPr id="66" name="Rectangle: Rounded Corners 65">
                <a:extLst>
                  <a:ext uri="{FF2B5EF4-FFF2-40B4-BE49-F238E27FC236}">
                    <a16:creationId xmlns:a16="http://schemas.microsoft.com/office/drawing/2014/main" id="{94037045-9075-B6C0-3761-351B8792CCB4}"/>
                  </a:ext>
                </a:extLst>
              </p:cNvPr>
              <p:cNvSpPr/>
              <p:nvPr/>
            </p:nvSpPr>
            <p:spPr>
              <a:xfrm>
                <a:off x="4192207" y="2820185"/>
                <a:ext cx="2871216" cy="317296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3425EFC5-7465-1C0B-2E50-704ED3C4A409}"/>
                  </a:ext>
                </a:extLst>
              </p:cNvPr>
              <p:cNvSpPr txBox="1"/>
              <p:nvPr/>
            </p:nvSpPr>
            <p:spPr>
              <a:xfrm>
                <a:off x="4530852" y="3108960"/>
                <a:ext cx="2276856" cy="4000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hr-HR" sz="2000" dirty="0">
                    <a:solidFill>
                      <a:schemeClr val="bg1"/>
                    </a:solidFill>
                  </a:rPr>
                  <a:t>Genetski algoritam</a:t>
                </a:r>
                <a:endParaRPr lang="en-US" sz="20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14B207F7-0652-6E7A-06AA-F53CDBA3BE2D}"/>
                </a:ext>
              </a:extLst>
            </p:cNvPr>
            <p:cNvSpPr/>
            <p:nvPr/>
          </p:nvSpPr>
          <p:spPr>
            <a:xfrm>
              <a:off x="6635838" y="-151844"/>
              <a:ext cx="337457" cy="696005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E1A3E62E-D184-29F2-96B3-4ADF5B973C35}"/>
                </a:ext>
              </a:extLst>
            </p:cNvPr>
            <p:cNvSpPr/>
            <p:nvPr/>
          </p:nvSpPr>
          <p:spPr>
            <a:xfrm>
              <a:off x="7050839" y="196158"/>
              <a:ext cx="496906" cy="311800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dirty="0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F2A03BDA-7A8F-89C6-2014-E13D074727DF}"/>
                </a:ext>
              </a:extLst>
            </p:cNvPr>
            <p:cNvSpPr/>
            <p:nvPr/>
          </p:nvSpPr>
          <p:spPr>
            <a:xfrm>
              <a:off x="7652507" y="-176630"/>
              <a:ext cx="412909" cy="634847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1DA16902-AE65-ED82-3DD2-7724653004B9}"/>
                </a:ext>
              </a:extLst>
            </p:cNvPr>
            <p:cNvSpPr/>
            <p:nvPr/>
          </p:nvSpPr>
          <p:spPr>
            <a:xfrm>
              <a:off x="7109068" y="-425233"/>
              <a:ext cx="423153" cy="497205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5A945698-93EB-841C-8B6C-AF4A736E9650}"/>
                </a:ext>
              </a:extLst>
            </p:cNvPr>
            <p:cNvSpPr/>
            <p:nvPr/>
          </p:nvSpPr>
          <p:spPr>
            <a:xfrm>
              <a:off x="6694067" y="-2802079"/>
              <a:ext cx="337457" cy="696005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r-HR" sz="4000" dirty="0"/>
                <a:t>*</a:t>
              </a:r>
              <a:endParaRPr lang="en-US" dirty="0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E49A87F7-57A0-BF1B-8172-EB6D12B83347}"/>
                </a:ext>
              </a:extLst>
            </p:cNvPr>
            <p:cNvSpPr/>
            <p:nvPr/>
          </p:nvSpPr>
          <p:spPr>
            <a:xfrm>
              <a:off x="7109068" y="-2454077"/>
              <a:ext cx="496906" cy="311800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r-HR" sz="4400" dirty="0"/>
                <a:t>*</a:t>
              </a:r>
              <a:endParaRPr lang="en-US" sz="4400" dirty="0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ACFDE779-12A5-B046-094C-65557270986C}"/>
                </a:ext>
              </a:extLst>
            </p:cNvPr>
            <p:cNvSpPr/>
            <p:nvPr/>
          </p:nvSpPr>
          <p:spPr>
            <a:xfrm>
              <a:off x="7710736" y="-2826865"/>
              <a:ext cx="412909" cy="634847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r-HR" sz="3200" dirty="0"/>
                <a:t>*</a:t>
              </a:r>
              <a:endParaRPr lang="en-US" dirty="0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E568EA77-FEA8-36D2-CFF4-F2095C2959E3}"/>
                </a:ext>
              </a:extLst>
            </p:cNvPr>
            <p:cNvSpPr/>
            <p:nvPr/>
          </p:nvSpPr>
          <p:spPr>
            <a:xfrm>
              <a:off x="7167297" y="-3075468"/>
              <a:ext cx="423153" cy="497205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r-HR" sz="4000" dirty="0">
                  <a:solidFill>
                    <a:schemeClr val="tx1"/>
                  </a:solidFill>
                </a:rPr>
                <a:t>*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86" name="Arrow: Right 85">
              <a:extLst>
                <a:ext uri="{FF2B5EF4-FFF2-40B4-BE49-F238E27FC236}">
                  <a16:creationId xmlns:a16="http://schemas.microsoft.com/office/drawing/2014/main" id="{72128B1A-5C38-9CD2-0A75-31EA6D506562}"/>
                </a:ext>
              </a:extLst>
            </p:cNvPr>
            <p:cNvSpPr/>
            <p:nvPr/>
          </p:nvSpPr>
          <p:spPr>
            <a:xfrm rot="18518024">
              <a:off x="4469423" y="3845937"/>
              <a:ext cx="570792" cy="241847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Arrow: Right 87">
              <a:extLst>
                <a:ext uri="{FF2B5EF4-FFF2-40B4-BE49-F238E27FC236}">
                  <a16:creationId xmlns:a16="http://schemas.microsoft.com/office/drawing/2014/main" id="{761E60C8-40F6-DDA1-8054-C2A31BA35C88}"/>
                </a:ext>
              </a:extLst>
            </p:cNvPr>
            <p:cNvSpPr/>
            <p:nvPr/>
          </p:nvSpPr>
          <p:spPr>
            <a:xfrm rot="13926245">
              <a:off x="6081327" y="3846990"/>
              <a:ext cx="570792" cy="241847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Arrow: Right 89">
              <a:extLst>
                <a:ext uri="{FF2B5EF4-FFF2-40B4-BE49-F238E27FC236}">
                  <a16:creationId xmlns:a16="http://schemas.microsoft.com/office/drawing/2014/main" id="{69A3E559-3B95-7F68-CA31-8BA39DF6654A}"/>
                </a:ext>
              </a:extLst>
            </p:cNvPr>
            <p:cNvSpPr/>
            <p:nvPr/>
          </p:nvSpPr>
          <p:spPr>
            <a:xfrm rot="18518024">
              <a:off x="8206757" y="3858942"/>
              <a:ext cx="570792" cy="241847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Arrow: Right 91">
              <a:extLst>
                <a:ext uri="{FF2B5EF4-FFF2-40B4-BE49-F238E27FC236}">
                  <a16:creationId xmlns:a16="http://schemas.microsoft.com/office/drawing/2014/main" id="{A37E82E7-D101-85F1-BADE-6901EF428699}"/>
                </a:ext>
              </a:extLst>
            </p:cNvPr>
            <p:cNvSpPr/>
            <p:nvPr/>
          </p:nvSpPr>
          <p:spPr>
            <a:xfrm rot="13926245">
              <a:off x="9818661" y="3859995"/>
              <a:ext cx="570792" cy="241847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Arrow: Right 93">
              <a:extLst>
                <a:ext uri="{FF2B5EF4-FFF2-40B4-BE49-F238E27FC236}">
                  <a16:creationId xmlns:a16="http://schemas.microsoft.com/office/drawing/2014/main" id="{5ED43473-50AE-583C-3319-6267CB8B066E}"/>
                </a:ext>
              </a:extLst>
            </p:cNvPr>
            <p:cNvSpPr/>
            <p:nvPr/>
          </p:nvSpPr>
          <p:spPr>
            <a:xfrm rot="18518024">
              <a:off x="5114630" y="760524"/>
              <a:ext cx="1087947" cy="241847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Arrow: Right 95">
              <a:extLst>
                <a:ext uri="{FF2B5EF4-FFF2-40B4-BE49-F238E27FC236}">
                  <a16:creationId xmlns:a16="http://schemas.microsoft.com/office/drawing/2014/main" id="{B72FD6A2-F27B-211F-7D0B-73B5F0329D14}"/>
                </a:ext>
              </a:extLst>
            </p:cNvPr>
            <p:cNvSpPr/>
            <p:nvPr/>
          </p:nvSpPr>
          <p:spPr>
            <a:xfrm rot="13926245">
              <a:off x="8344867" y="729586"/>
              <a:ext cx="1388544" cy="241847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Arrow: Right 96">
              <a:extLst>
                <a:ext uri="{FF2B5EF4-FFF2-40B4-BE49-F238E27FC236}">
                  <a16:creationId xmlns:a16="http://schemas.microsoft.com/office/drawing/2014/main" id="{9318AB61-0DF6-3A84-C870-F5928136DC10}"/>
                </a:ext>
              </a:extLst>
            </p:cNvPr>
            <p:cNvSpPr/>
            <p:nvPr/>
          </p:nvSpPr>
          <p:spPr>
            <a:xfrm rot="18192332">
              <a:off x="2116607" y="1605357"/>
              <a:ext cx="1963623" cy="209548"/>
            </a:xfrm>
            <a:prstGeom prst="rightArrow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Arrow: Right 98">
              <a:extLst>
                <a:ext uri="{FF2B5EF4-FFF2-40B4-BE49-F238E27FC236}">
                  <a16:creationId xmlns:a16="http://schemas.microsoft.com/office/drawing/2014/main" id="{F0C62C6D-4B8A-044B-468F-87BAD921C0F1}"/>
                </a:ext>
              </a:extLst>
            </p:cNvPr>
            <p:cNvSpPr/>
            <p:nvPr/>
          </p:nvSpPr>
          <p:spPr>
            <a:xfrm rot="8227961">
              <a:off x="4730668" y="-1418907"/>
              <a:ext cx="1963623" cy="209548"/>
            </a:xfrm>
            <a:prstGeom prst="rightArrow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60AB6A73-ED20-9095-CC61-943F189B4E4E}"/>
                </a:ext>
              </a:extLst>
            </p:cNvPr>
            <p:cNvSpPr/>
            <p:nvPr/>
          </p:nvSpPr>
          <p:spPr>
            <a:xfrm>
              <a:off x="3173760" y="-1866902"/>
              <a:ext cx="731520" cy="859536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r-HR" sz="3200" dirty="0"/>
                <a:t>*</a:t>
              </a:r>
              <a:endParaRPr lang="en-US" sz="3200" dirty="0"/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3B4F20AC-6F54-D15F-462B-1151372148AB}"/>
                </a:ext>
              </a:extLst>
            </p:cNvPr>
            <p:cNvSpPr/>
            <p:nvPr/>
          </p:nvSpPr>
          <p:spPr>
            <a:xfrm>
              <a:off x="3905280" y="-1866902"/>
              <a:ext cx="731520" cy="1508760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r-HR" sz="3200" dirty="0"/>
                <a:t>*</a:t>
              </a:r>
              <a:endParaRPr lang="en-US" sz="3200" dirty="0"/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7A0261D3-094B-DA21-72AA-DBD7F3CE5D15}"/>
                </a:ext>
              </a:extLst>
            </p:cNvPr>
            <p:cNvSpPr/>
            <p:nvPr/>
          </p:nvSpPr>
          <p:spPr>
            <a:xfrm>
              <a:off x="3173760" y="-1007366"/>
              <a:ext cx="731520" cy="384048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r-HR" sz="3200" dirty="0"/>
                <a:t>*</a:t>
              </a:r>
              <a:endParaRPr lang="en-US" sz="3200" dirty="0"/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4F452D79-246E-157A-FD79-304F2DC34199}"/>
                </a:ext>
              </a:extLst>
            </p:cNvPr>
            <p:cNvSpPr/>
            <p:nvPr/>
          </p:nvSpPr>
          <p:spPr>
            <a:xfrm>
              <a:off x="3173760" y="-623318"/>
              <a:ext cx="731520" cy="1124712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r-HR" sz="3200" dirty="0"/>
                <a:t>*</a:t>
              </a:r>
              <a:endParaRPr lang="en-US" sz="3200" dirty="0"/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C0CFD4F2-B123-5B70-D0CE-E4EC8297D855}"/>
                </a:ext>
              </a:extLst>
            </p:cNvPr>
            <p:cNvSpPr/>
            <p:nvPr/>
          </p:nvSpPr>
          <p:spPr>
            <a:xfrm>
              <a:off x="3905280" y="-358142"/>
              <a:ext cx="731520" cy="859536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r-HR" sz="3200" dirty="0">
                  <a:solidFill>
                    <a:schemeClr val="tx1"/>
                  </a:solidFill>
                </a:rPr>
                <a:t>*</a:t>
              </a:r>
              <a:endParaRPr lang="en-US" sz="3200" dirty="0">
                <a:solidFill>
                  <a:schemeClr val="tx1"/>
                </a:solidFill>
              </a:endParaRPr>
            </a:p>
          </p:txBody>
        </p:sp>
        <p:sp>
          <p:nvSpPr>
            <p:cNvPr id="121" name="Arrow: Right 120">
              <a:extLst>
                <a:ext uri="{FF2B5EF4-FFF2-40B4-BE49-F238E27FC236}">
                  <a16:creationId xmlns:a16="http://schemas.microsoft.com/office/drawing/2014/main" id="{722C9F6F-E694-DCD4-BEB8-142584A29773}"/>
                </a:ext>
              </a:extLst>
            </p:cNvPr>
            <p:cNvSpPr/>
            <p:nvPr/>
          </p:nvSpPr>
          <p:spPr>
            <a:xfrm rot="13288882">
              <a:off x="2766839" y="7221953"/>
              <a:ext cx="1634993" cy="224223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Arrow: Right 122">
              <a:extLst>
                <a:ext uri="{FF2B5EF4-FFF2-40B4-BE49-F238E27FC236}">
                  <a16:creationId xmlns:a16="http://schemas.microsoft.com/office/drawing/2014/main" id="{C4A5D3D9-B88C-796A-7F61-7084FA86F3E2}"/>
                </a:ext>
              </a:extLst>
            </p:cNvPr>
            <p:cNvSpPr/>
            <p:nvPr/>
          </p:nvSpPr>
          <p:spPr>
            <a:xfrm rot="15271638">
              <a:off x="4024685" y="7158361"/>
              <a:ext cx="1634993" cy="224223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Arrow: Right 124">
              <a:extLst>
                <a:ext uri="{FF2B5EF4-FFF2-40B4-BE49-F238E27FC236}">
                  <a16:creationId xmlns:a16="http://schemas.microsoft.com/office/drawing/2014/main" id="{48484C83-66AA-68E0-36F2-C2050FCB714A}"/>
                </a:ext>
              </a:extLst>
            </p:cNvPr>
            <p:cNvSpPr/>
            <p:nvPr/>
          </p:nvSpPr>
          <p:spPr>
            <a:xfrm rot="16200000">
              <a:off x="5564693" y="7188825"/>
              <a:ext cx="1634993" cy="224223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Arrow: Right 126">
              <a:extLst>
                <a:ext uri="{FF2B5EF4-FFF2-40B4-BE49-F238E27FC236}">
                  <a16:creationId xmlns:a16="http://schemas.microsoft.com/office/drawing/2014/main" id="{14D104B4-8E29-7B47-41EE-921D95581DFE}"/>
                </a:ext>
              </a:extLst>
            </p:cNvPr>
            <p:cNvSpPr/>
            <p:nvPr/>
          </p:nvSpPr>
          <p:spPr>
            <a:xfrm rot="17698161">
              <a:off x="7206322" y="7221953"/>
              <a:ext cx="1634993" cy="224223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Arrow: Right 128">
              <a:extLst>
                <a:ext uri="{FF2B5EF4-FFF2-40B4-BE49-F238E27FC236}">
                  <a16:creationId xmlns:a16="http://schemas.microsoft.com/office/drawing/2014/main" id="{F5205A72-347A-27C2-8CE8-0E4B65066A77}"/>
                </a:ext>
              </a:extLst>
            </p:cNvPr>
            <p:cNvSpPr/>
            <p:nvPr/>
          </p:nvSpPr>
          <p:spPr>
            <a:xfrm rot="18427291">
              <a:off x="8954253" y="7286825"/>
              <a:ext cx="1634993" cy="224223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5D022FB0-AA08-3F3F-EB3D-2DFCBB632202}"/>
                </a:ext>
              </a:extLst>
            </p:cNvPr>
            <p:cNvSpPr/>
            <p:nvPr/>
          </p:nvSpPr>
          <p:spPr>
            <a:xfrm>
              <a:off x="5918469" y="11729923"/>
              <a:ext cx="1434737" cy="236829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Arrow: Right 141">
              <a:extLst>
                <a:ext uri="{FF2B5EF4-FFF2-40B4-BE49-F238E27FC236}">
                  <a16:creationId xmlns:a16="http://schemas.microsoft.com/office/drawing/2014/main" id="{29C35A7D-D2A4-9980-960B-81794C7518A2}"/>
                </a:ext>
              </a:extLst>
            </p:cNvPr>
            <p:cNvSpPr/>
            <p:nvPr/>
          </p:nvSpPr>
          <p:spPr>
            <a:xfrm rot="16200000">
              <a:off x="6338886" y="11108417"/>
              <a:ext cx="570792" cy="241847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3655CE02-4B02-7C71-F810-CF001ABFF038}"/>
                </a:ext>
              </a:extLst>
            </p:cNvPr>
            <p:cNvSpPr/>
            <p:nvPr/>
          </p:nvSpPr>
          <p:spPr>
            <a:xfrm>
              <a:off x="59640" y="-1875178"/>
              <a:ext cx="1434737" cy="236829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r-HR" sz="3200" dirty="0"/>
            </a:p>
            <a:p>
              <a:pPr algn="ctr"/>
              <a:r>
                <a:rPr lang="hr-HR" sz="3200" dirty="0"/>
                <a:t>*</a:t>
              </a:r>
              <a:endParaRPr lang="en-US" sz="3200" dirty="0"/>
            </a:p>
          </p:txBody>
        </p:sp>
        <p:sp>
          <p:nvSpPr>
            <p:cNvPr id="146" name="Arrow: Right 145">
              <a:extLst>
                <a:ext uri="{FF2B5EF4-FFF2-40B4-BE49-F238E27FC236}">
                  <a16:creationId xmlns:a16="http://schemas.microsoft.com/office/drawing/2014/main" id="{EC6D7A00-E906-8B04-3B0C-F500ED35289B}"/>
                </a:ext>
              </a:extLst>
            </p:cNvPr>
            <p:cNvSpPr/>
            <p:nvPr/>
          </p:nvSpPr>
          <p:spPr>
            <a:xfrm rot="10800000">
              <a:off x="1720053" y="-568022"/>
              <a:ext cx="1087947" cy="241847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Arrow: Right 147">
              <a:extLst>
                <a:ext uri="{FF2B5EF4-FFF2-40B4-BE49-F238E27FC236}">
                  <a16:creationId xmlns:a16="http://schemas.microsoft.com/office/drawing/2014/main" id="{B6C20309-BB3C-4D16-C243-11E791387164}"/>
                </a:ext>
              </a:extLst>
            </p:cNvPr>
            <p:cNvSpPr/>
            <p:nvPr/>
          </p:nvSpPr>
          <p:spPr>
            <a:xfrm rot="10800000">
              <a:off x="1720053" y="-997751"/>
              <a:ext cx="1087947" cy="241847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116845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</Words>
  <Application>Microsoft Office PowerPoint</Application>
  <PresentationFormat>Widescreen</PresentationFormat>
  <Paragraphs>20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Stjepan Đelekovčan</dc:creator>
  <cp:lastModifiedBy>Stjepan Đelekovčan</cp:lastModifiedBy>
  <cp:revision>1</cp:revision>
  <dcterms:created xsi:type="dcterms:W3CDTF">2026-06-13T20:38:50Z</dcterms:created>
  <dcterms:modified xsi:type="dcterms:W3CDTF">2026-06-13T20:38:59Z</dcterms:modified>
</cp:coreProperties>
</file>